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930">
                  <a:alpha val="88000"/>
                </a:srgbClr>
              </a:gs>
              <a:gs pos="100000">
                <a:srgbClr val="162F50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52956" y="901813"/>
            <a:ext cx="685782" cy="52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1980" y="1943100"/>
            <a:ext cx="10667733" cy="1714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Canadian Housing Market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93" y="3962399"/>
            <a:ext cx="3657508" cy="571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885" y="4324349"/>
            <a:ext cx="30574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Top 45 Cities Across Canada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9944" y="5086350"/>
            <a:ext cx="37622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Edward Agyemang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944" y="5429250"/>
            <a:ext cx="37622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Northeastern University — Vancouver Campus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944" y="5772150"/>
            <a:ext cx="37622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April 2026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24641" y="6382310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1335" y="636270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34,381 Listings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34306" y="637950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0999" y="6362700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45 Cities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753456" y="637670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20149" y="636270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9 Provinces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294315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Data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857250"/>
            <a:ext cx="2324041" cy="2133599"/>
          </a:xfrm>
          <a:prstGeom prst="roundRect">
            <a:avLst>
              <a:gd name="adj" fmla="val 7142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543011" y="1159042"/>
            <a:ext cx="457188" cy="34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8199" y="1676400"/>
            <a:ext cx="146681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34,381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644" y="2209800"/>
            <a:ext cx="112392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Listings</a:t>
            </a:r>
            <a:r>
              <a:rPr sz="1104"/>
              <a:t>
</a:t>
            </a: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After 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2220" y="857250"/>
            <a:ext cx="2324041" cy="2133599"/>
          </a:xfrm>
          <a:prstGeom prst="roundRect">
            <a:avLst>
              <a:gd name="adj" fmla="val 7142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095647" y="1150018"/>
            <a:ext cx="457188" cy="3669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8974" y="1676400"/>
            <a:ext cx="590535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875" y="2209800"/>
            <a:ext cx="66673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Cities</a:t>
            </a:r>
            <a:r>
              <a:rPr sz="1104"/>
              <a:t>
</a:t>
            </a: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219449"/>
            <a:ext cx="2324041" cy="2362199"/>
          </a:xfrm>
          <a:prstGeom prst="roundRect">
            <a:avLst>
              <a:gd name="adj" fmla="val 6557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543011" y="3503194"/>
            <a:ext cx="457188" cy="385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28734" y="4038599"/>
            <a:ext cx="295267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15" y="4572000"/>
            <a:ext cx="7715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Provinces</a:t>
            </a:r>
            <a:r>
              <a:rPr sz="1104"/>
              <a:t>
</a:t>
            </a: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2220" y="3219449"/>
            <a:ext cx="2324041" cy="2362199"/>
          </a:xfrm>
          <a:prstGeom prst="roundRect">
            <a:avLst>
              <a:gd name="adj" fmla="val 6557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095647" y="3482139"/>
            <a:ext cx="457188" cy="4271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38479" y="4038599"/>
            <a:ext cx="97152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794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Oct 29</a:t>
            </a:r>
            <a:r>
              <a:rPr sz="1104"/>
              <a:t>
</a:t>
            </a:r>
            <a:r>
              <a:rPr sz="1794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181" y="4800600"/>
            <a:ext cx="120964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Data Collection</a:t>
            </a:r>
            <a:r>
              <a:rPr sz="1104"/>
              <a:t>
</a:t>
            </a:r>
            <a:r>
              <a:rPr sz="107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886450"/>
            <a:ext cx="2362140" cy="914400"/>
          </a:xfrm>
          <a:prstGeom prst="roundRect">
            <a:avLst>
              <a:gd name="adj" fmla="val 16666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218424" y="627761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79" y="6038849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National Median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79" y="6305550"/>
            <a:ext cx="20192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$699K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4121" y="5886450"/>
            <a:ext cx="2362140" cy="914400"/>
          </a:xfrm>
          <a:prstGeom prst="roundRect">
            <a:avLst>
              <a:gd name="adj" fmla="val 16666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2732961" y="627761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4617" y="6038849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National Mean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4617" y="6305550"/>
            <a:ext cx="20192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$879.8K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432" y="19811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080"/>
              </a:spcAft>
            </a:pPr>
            <a:r>
              <a:rPr sz="1794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Research Questions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5432" y="26289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5432" y="26289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19" y="2628900"/>
            <a:ext cx="434329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How do listing prices vary across Canadian provinces?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05432" y="34480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5432" y="3448049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8819" y="3448049"/>
            <a:ext cx="434329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Which cities have the highest and lowest median listing prices?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05432" y="42481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5432" y="424815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8819" y="4248150"/>
            <a:ext cx="434329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Do higher incomes mean proportionally higher home prices?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05432" y="50672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5432" y="5067299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8819" y="5067299"/>
            <a:ext cx="434329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Which cities are the least and most affordable relative to family income?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729596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Canada Has 9 Different Housing Markets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447800"/>
            <a:ext cx="7210244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1810" y="1047749"/>
            <a:ext cx="3152696" cy="3228975"/>
          </a:xfrm>
          <a:prstGeom prst="roundRect">
            <a:avLst>
              <a:gd name="adj" fmla="val 7250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29454" y="1384696"/>
            <a:ext cx="380990" cy="2024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4741" y="1352549"/>
            <a:ext cx="6572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Key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9454" y="1990724"/>
            <a:ext cx="39051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BC: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3791" y="1828800"/>
            <a:ext cx="1495387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$950K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9454" y="2533649"/>
            <a:ext cx="6000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Sask: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3811" y="2371725"/>
            <a:ext cx="14763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$350K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9454" y="3152775"/>
            <a:ext cx="265740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2.7x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9454" y="3800475"/>
            <a:ext cx="26574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Price Difference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81810" y="4657725"/>
            <a:ext cx="3152696" cy="1962149"/>
          </a:xfrm>
          <a:prstGeom prst="roundRect">
            <a:avLst>
              <a:gd name="adj" fmla="val 11650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829454" y="4935140"/>
            <a:ext cx="380990" cy="321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4741" y="4962525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Main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9454" y="5438774"/>
            <a:ext cx="2657408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119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Location</a:t>
            </a: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determines affordability more than any other factor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480047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BC Dominates the Top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352549"/>
            <a:ext cx="6400639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205" y="742950"/>
            <a:ext cx="3962300" cy="1857375"/>
          </a:xfrm>
          <a:prstGeom prst="roundRect">
            <a:avLst>
              <a:gd name="adj" fmla="val 12307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19849" y="1029028"/>
            <a:ext cx="342891" cy="26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038" y="102870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Most Expensive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849" y="1666874"/>
            <a:ext cx="1400139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White Rock: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4286" y="1447800"/>
            <a:ext cx="19525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$1.53M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205" y="2828925"/>
            <a:ext cx="3962300" cy="2105024"/>
          </a:xfrm>
          <a:prstGeom prst="roundRect">
            <a:avLst>
              <a:gd name="adj" fmla="val 10859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19849" y="3103179"/>
            <a:ext cx="342891" cy="2896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77038" y="3114675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BC Dominance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849" y="3533774"/>
            <a:ext cx="346701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6 out of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849" y="4067174"/>
            <a:ext cx="346701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Top most expensive cities are all in </a:t>
            </a:r>
            <a:r>
              <a:rPr sz="119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British Columbia</a:t>
            </a: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205" y="5162550"/>
            <a:ext cx="3962300" cy="1762125"/>
          </a:xfrm>
          <a:prstGeom prst="roundRect">
            <a:avLst>
              <a:gd name="adj" fmla="val 12972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19849" y="5442716"/>
            <a:ext cx="342891" cy="2778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77038" y="544830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Toronto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849" y="6029325"/>
            <a:ext cx="6381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Rank: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2305" y="5867399"/>
            <a:ext cx="81912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8th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849" y="6410324"/>
            <a:ext cx="34670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at $899K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72864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Income vs Price: The Mortgage Risk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314450"/>
            <a:ext cx="7210244" cy="504825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5612" y="1257300"/>
            <a:ext cx="3305092" cy="1085850"/>
          </a:xfrm>
          <a:prstGeom prst="roundRect">
            <a:avLst>
              <a:gd name="adj" fmla="val 21052"/>
            </a:avLst>
          </a:prstGeom>
          <a:solidFill>
            <a:srgbClr val="F44336">
              <a:alpha val="15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15157" y="1537188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96147" y="1485900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A80"/>
                </a:solidFill>
                <a:latin typeface="Open Sans"/>
                <a:rFonts ascii="Open Sans" hAnsi="Open Sans" eastAsia="Open Sans" cs="Open Sans"/>
              </a:rPr>
              <a:t>Above Line = Overpriced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5157" y="1885950"/>
            <a:ext cx="288600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Higher mortgage default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5612" y="2533649"/>
            <a:ext cx="3305092" cy="1085850"/>
          </a:xfrm>
          <a:prstGeom prst="roundRect">
            <a:avLst>
              <a:gd name="adj" fmla="val 21052"/>
            </a:avLst>
          </a:prstGeom>
          <a:solidFill>
            <a:srgbClr val="4CAF50">
              <a:alpha val="15000"/>
            </a:srgbClr>
          </a:solidFill>
          <a:ln w="1651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15157" y="2813538"/>
            <a:ext cx="304792" cy="164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6147" y="2762249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D6A7"/>
                </a:solidFill>
                <a:latin typeface="Open Sans"/>
                <a:rFonts ascii="Open Sans" hAnsi="Open Sans" eastAsia="Open Sans" cs="Open Sans"/>
              </a:rPr>
              <a:t>Below Line = Underpriced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5157" y="3162299"/>
            <a:ext cx="288600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Lower mortgage default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5612" y="3809999"/>
            <a:ext cx="3305092" cy="1085850"/>
          </a:xfrm>
          <a:prstGeom prst="roundRect">
            <a:avLst>
              <a:gd name="adj" fmla="val 21052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15157" y="4048857"/>
            <a:ext cx="304792" cy="246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6147" y="403859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Severely Overpriced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5157" y="4438649"/>
            <a:ext cx="288600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956" b="1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White Rock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, </a:t>
            </a:r>
            <a:r>
              <a:rPr sz="956" b="1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Vancouver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, </a:t>
            </a:r>
            <a:r>
              <a:rPr sz="956" b="1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Abbotsford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5612" y="5086350"/>
            <a:ext cx="3305092" cy="1314450"/>
          </a:xfrm>
          <a:prstGeom prst="roundRect">
            <a:avLst>
              <a:gd name="adj" fmla="val 17391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15157" y="5433646"/>
            <a:ext cx="304792" cy="2579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96147" y="5295899"/>
            <a:ext cx="250501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Underpriced Relative to Income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5157" y="5943600"/>
            <a:ext cx="288600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956" b="1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Regina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, </a:t>
            </a:r>
            <a:r>
              <a:rPr sz="956" b="1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Edmonton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40670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The Affordability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314450"/>
            <a:ext cx="6400639" cy="504825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96007" y="723900"/>
            <a:ext cx="4114697" cy="2066924"/>
          </a:xfrm>
          <a:prstGeom prst="roundRect">
            <a:avLst>
              <a:gd name="adj" fmla="val 11059"/>
            </a:avLst>
          </a:prstGeom>
          <a:solidFill>
            <a:srgbClr val="F44336">
              <a:alpha val="15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43651" y="1008757"/>
            <a:ext cx="380990" cy="306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38939" y="102870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A80"/>
                </a:solidFill>
                <a:latin typeface="Open Sans"/>
                <a:rFonts ascii="Open Sans" hAnsi="Open Sans" eastAsia="Open Sans" cs="Open Sans"/>
              </a:rPr>
              <a:t>Least Affordable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3651" y="1790700"/>
            <a:ext cx="178113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White Rock: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9079" y="1466849"/>
            <a:ext cx="108582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21x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3651" y="2228850"/>
            <a:ext cx="361940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Critically Unaffordable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6007" y="3019424"/>
            <a:ext cx="4114697" cy="2590799"/>
          </a:xfrm>
          <a:prstGeom prst="roundRect">
            <a:avLst>
              <a:gd name="adj" fmla="val 8823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43651" y="3296840"/>
            <a:ext cx="380990" cy="321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38939" y="3324225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Global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3651" y="3981449"/>
            <a:ext cx="2828854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Internationally recognized: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6802" y="3762374"/>
            <a:ext cx="6762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3651" y="4743450"/>
            <a:ext cx="3619409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Housing is considered affordable below 5x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007" y="5838824"/>
            <a:ext cx="1981150" cy="1104900"/>
          </a:xfrm>
          <a:prstGeom prst="roundRect">
            <a:avLst>
              <a:gd name="adj" fmla="val 20689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5552" y="6048375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Montreal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2" y="6353174"/>
            <a:ext cx="156206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10.8x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554" y="5838824"/>
            <a:ext cx="1981150" cy="1104900"/>
          </a:xfrm>
          <a:prstGeom prst="roundRect">
            <a:avLst>
              <a:gd name="adj" fmla="val 20689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9099" y="6048375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Toronto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9099" y="6353174"/>
            <a:ext cx="156206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9.3x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527671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Market Structure by Province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314450"/>
            <a:ext cx="6400639" cy="504825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96007" y="609600"/>
            <a:ext cx="4114697" cy="1600200"/>
          </a:xfrm>
          <a:prstGeom prst="roundRect">
            <a:avLst>
              <a:gd name="adj" fmla="val 14285"/>
            </a:avLst>
          </a:prstGeom>
          <a:solidFill>
            <a:srgbClr val="F44336">
              <a:alpha val="15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05552" y="889488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542" y="83820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A80"/>
                </a:solidFill>
                <a:latin typeface="Open Sans"/>
                <a:rFonts ascii="Open Sans" hAnsi="Open Sans" eastAsia="Open Sans" cs="Open Sans"/>
              </a:rPr>
              <a:t>British Columbia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552" y="1238249"/>
            <a:ext cx="100009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46%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1850" y="14287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over $1M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552" y="1771650"/>
            <a:ext cx="36956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Only 11% under $500K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6007" y="2400300"/>
            <a:ext cx="4114697" cy="1333500"/>
          </a:xfrm>
          <a:prstGeom prst="roundRect">
            <a:avLst>
              <a:gd name="adj" fmla="val 17142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05552" y="2639157"/>
            <a:ext cx="304792" cy="246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6542" y="2628900"/>
            <a:ext cx="638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Ontario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552" y="3028950"/>
            <a:ext cx="3695607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Balanced market</a:t>
            </a:r>
            <a:r>
              <a:rPr sz="1104"/>
              <a:t>
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95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27%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over $1M · </a:t>
            </a:r>
            <a:r>
              <a:rPr sz="95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57%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$500K-$1M · </a:t>
            </a:r>
            <a:r>
              <a:rPr sz="95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17%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under $500K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6007" y="3924299"/>
            <a:ext cx="4114697" cy="1466849"/>
          </a:xfrm>
          <a:prstGeom prst="roundRect">
            <a:avLst>
              <a:gd name="adj" fmla="val 15584"/>
            </a:avLst>
          </a:prstGeom>
          <a:solidFill>
            <a:srgbClr val="4CAF50">
              <a:alpha val="15000"/>
            </a:srgbClr>
          </a:solidFill>
          <a:ln w="1651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905552" y="4173415"/>
            <a:ext cx="304792" cy="225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6542" y="4152899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D6A7"/>
                </a:solidFill>
                <a:latin typeface="Open Sans"/>
                <a:rFonts ascii="Open Sans" hAnsi="Open Sans" eastAsia="Open Sans" cs="Open Sans"/>
              </a:rPr>
              <a:t>Affordable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552" y="4552949"/>
            <a:ext cx="3695607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956" b="1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Saskatchewan</a:t>
            </a: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, </a:t>
            </a:r>
            <a:r>
              <a:rPr sz="956" b="1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Newfoundland</a:t>
            </a: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, </a:t>
            </a:r>
            <a:r>
              <a:rPr sz="956" b="1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NB</a:t>
            </a:r>
            <a:r>
              <a:rPr sz="1104"/>
              <a:t>
</a:t>
            </a: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2152" b="1">
                <a:solidFill>
                  <a:srgbClr val="66BB6A"/>
                </a:solidFill>
                <a:latin typeface="Montserrat"/>
                <a:rFonts ascii="Montserrat" hAnsi="Montserrat" eastAsia="Montserrat" cs="Montserrat"/>
              </a:rPr>
              <a:t>74-75%</a:t>
            </a: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 under $500K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6007" y="5581649"/>
            <a:ext cx="4114697" cy="1466849"/>
          </a:xfrm>
          <a:prstGeom prst="roundRect">
            <a:avLst>
              <a:gd name="adj" fmla="val 15584"/>
            </a:avLst>
          </a:prstGeom>
          <a:solidFill>
            <a:srgbClr val="4FC3F7">
              <a:alpha val="15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905552" y="5820507"/>
            <a:ext cx="304792" cy="246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86542" y="5810249"/>
            <a:ext cx="6095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Alberta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552" y="6210299"/>
            <a:ext cx="3695607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59%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under $500K</a:t>
            </a:r>
            <a:r>
              <a:rPr sz="1104"/>
              <a:t>
</a:t>
            </a: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Despite oil wealth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657208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The 6x Gap Between Best and Worst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314450"/>
            <a:ext cx="6400639" cy="504825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96007" y="781050"/>
            <a:ext cx="4114697" cy="1828800"/>
          </a:xfrm>
          <a:prstGeom prst="roundRect">
            <a:avLst>
              <a:gd name="adj" fmla="val 12500"/>
            </a:avLst>
          </a:prstGeom>
          <a:solidFill>
            <a:srgbClr val="4CAF50">
              <a:alpha val="15000"/>
            </a:srgbClr>
          </a:solidFill>
          <a:ln w="1651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05552" y="1014046"/>
            <a:ext cx="304792" cy="2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542" y="100964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D6A7"/>
                </a:solidFill>
                <a:latin typeface="Open Sans"/>
                <a:rFonts ascii="Open Sans" hAnsi="Open Sans" eastAsia="Open Sans" cs="Open Sans"/>
              </a:rPr>
              <a:t>Most Affordable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552" y="1409699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CAF50"/>
                </a:solidFill>
                <a:latin typeface="Montserrat"/>
                <a:rFonts ascii="Montserrat" hAnsi="Montserrat" eastAsia="Montserrat" cs="Montserrat"/>
              </a:rPr>
              <a:t>3.33x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552" y="1866899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Regina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2345" y="1409699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CAF50"/>
                </a:solidFill>
                <a:latin typeface="Montserrat"/>
                <a:rFonts ascii="Montserrat" hAnsi="Montserrat" eastAsia="Montserrat" cs="Montserrat"/>
              </a:rPr>
              <a:t>3.64x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2345" y="1866899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Edmonton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8663" y="1409699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CAF50"/>
                </a:solidFill>
                <a:latin typeface="Montserrat"/>
                <a:rFonts ascii="Montserrat" hAnsi="Montserrat" eastAsia="Montserrat" cs="Montserrat"/>
              </a:rPr>
              <a:t>4.04x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8663" y="1866899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Saint John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552" y="2171700"/>
            <a:ext cx="36956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BB6A"/>
                </a:solidFill>
                <a:latin typeface="Open Sans"/>
                <a:rFonts ascii="Open Sans" hAnsi="Open Sans" eastAsia="Open Sans" cs="Open Sans"/>
              </a:rPr>
              <a:t>Prairie &amp; Atlantic cities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6007" y="2800350"/>
            <a:ext cx="4114697" cy="1828800"/>
          </a:xfrm>
          <a:prstGeom prst="roundRect">
            <a:avLst>
              <a:gd name="adj" fmla="val 12500"/>
            </a:avLst>
          </a:prstGeom>
          <a:solidFill>
            <a:srgbClr val="F44336">
              <a:alpha val="15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05552" y="3033346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6542" y="302895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A80"/>
                </a:solidFill>
                <a:latin typeface="Open Sans"/>
                <a:rFonts ascii="Open Sans" hAnsi="Open Sans" eastAsia="Open Sans" cs="Open Sans"/>
              </a:rPr>
              <a:t>Least Affordable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552" y="3429000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21x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2" y="3886200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White Rock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345" y="3429000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13.3x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345" y="3886200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Vancouver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8663" y="3429000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12.1x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8663" y="3886200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Abbotsford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552" y="4190999"/>
            <a:ext cx="36956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All 5 least affordable cities are in 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6007" y="4819650"/>
            <a:ext cx="4114697" cy="2057400"/>
          </a:xfrm>
          <a:prstGeom prst="roundRect">
            <a:avLst>
              <a:gd name="adj" fmla="val 11111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943651" y="5156596"/>
            <a:ext cx="380990" cy="20240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38939" y="5124449"/>
            <a:ext cx="6762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The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3651" y="5753099"/>
            <a:ext cx="148586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More than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3811" y="5524499"/>
            <a:ext cx="69530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6x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3651" y="6172200"/>
            <a:ext cx="3619409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Between Canada's least and most affordable markets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D193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9550"/>
            <a:ext cx="272408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447800"/>
            <a:ext cx="5371965" cy="1800225"/>
          </a:xfrm>
          <a:prstGeom prst="roundRect">
            <a:avLst>
              <a:gd name="adj" fmla="val 12698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6954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1695449"/>
            <a:ext cx="533386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11" y="1695449"/>
            <a:ext cx="70483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2.7x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4041" y="1809749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3E5FC"/>
                </a:solidFill>
                <a:latin typeface="Open Sans"/>
                <a:rFonts ascii="Open Sans" hAnsi="Open Sans" eastAsia="Open Sans" cs="Open Sans"/>
              </a:rPr>
              <a:t>Higher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11" y="2190749"/>
            <a:ext cx="419089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BC ($950K)</a:t>
            </a:r>
            <a:r>
              <a:rPr sz="107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vs Saskatchewan ($350K)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11" y="2552700"/>
            <a:ext cx="419089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Location determines affordability more than any other factor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1447800"/>
            <a:ext cx="5371965" cy="1800225"/>
          </a:xfrm>
          <a:prstGeom prst="roundRect">
            <a:avLst>
              <a:gd name="adj" fmla="val 12698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7788" y="16954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7788" y="1695449"/>
            <a:ext cx="533386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571" y="1695449"/>
            <a:ext cx="57148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6/6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571" y="2190749"/>
            <a:ext cx="419089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All </a:t>
            </a: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most expensive</a:t>
            </a:r>
            <a:r>
              <a:rPr sz="107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cities are in BC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571" y="2552700"/>
            <a:ext cx="419089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Structural supply crisis that individual buyers cannot solve alone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486150"/>
            <a:ext cx="5371965" cy="1762125"/>
          </a:xfrm>
          <a:prstGeom prst="roundRect">
            <a:avLst>
              <a:gd name="adj" fmla="val 12972"/>
            </a:avLst>
          </a:prstGeom>
          <a:solidFill>
            <a:srgbClr val="F44336">
              <a:alpha val="10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228" y="37337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4433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3733799"/>
            <a:ext cx="533386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3011" y="3733799"/>
            <a:ext cx="166683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44336"/>
                </a:solidFill>
                <a:latin typeface="Montserrat"/>
                <a:rFonts ascii="Montserrat" hAnsi="Montserrat" eastAsia="Montserrat" cs="Montserrat"/>
              </a:rPr>
              <a:t>Above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3011" y="4190999"/>
            <a:ext cx="419089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F5350"/>
                </a:solidFill>
                <a:latin typeface="Open Sans"/>
                <a:rFonts ascii="Open Sans" hAnsi="Open Sans" eastAsia="Open Sans" cs="Open Sans"/>
              </a:rPr>
              <a:t>BC cities far above income-price regression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3011" y="4543425"/>
            <a:ext cx="419089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8A80"/>
                </a:solidFill>
                <a:latin typeface="Open Sans"/>
                <a:rFonts ascii="Open Sans" hAnsi="Open Sans" eastAsia="Open Sans" cs="Open Sans"/>
              </a:rPr>
              <a:t>Decoupled from earnings — elevated mortgage default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3486150"/>
            <a:ext cx="5371965" cy="1762125"/>
          </a:xfrm>
          <a:prstGeom prst="roundRect">
            <a:avLst>
              <a:gd name="adj" fmla="val 12972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7788" y="38290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7788" y="3829050"/>
            <a:ext cx="533386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3571" y="3829050"/>
            <a:ext cx="75245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46%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3571" y="4324349"/>
            <a:ext cx="419089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of BC listings are priced over </a:t>
            </a:r>
            <a:r>
              <a:rPr sz="1076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$1M</a:t>
            </a:r>
            <a:r>
              <a:rPr sz="1076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571" y="4676775"/>
            <a:ext cx="41908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Out of reach for families on average incomes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5476875"/>
            <a:ext cx="10972525" cy="1343025"/>
          </a:xfrm>
          <a:prstGeom prst="roundRect">
            <a:avLst>
              <a:gd name="adj" fmla="val 17021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6773" y="58864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572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773" y="5886450"/>
            <a:ext cx="533386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2556" y="5724524"/>
            <a:ext cx="282885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White Rock: 21x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6182" y="5772150"/>
            <a:ext cx="29526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E1F5FE"/>
                </a:solidFill>
                <a:latin typeface="Montserrat"/>
                <a:rFonts ascii="Montserrat" hAnsi="Montserrat" eastAsia="Montserrat" cs="Montserrat"/>
              </a:rPr>
              <a:t>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5747" y="5724524"/>
            <a:ext cx="234309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FC3F7"/>
                </a:solidFill>
                <a:latin typeface="Montserrat"/>
                <a:rFonts ascii="Montserrat" hAnsi="Montserrat" eastAsia="Montserrat" cs="Montserrat"/>
              </a:rPr>
              <a:t>Regina: 3.33x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2556" y="6229350"/>
            <a:ext cx="93723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1794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6x gap</a:t>
            </a:r>
            <a:r>
              <a:rPr sz="1076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 between Canada's least and most affordable markets — larger than almost any other developed country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81150" y="380999"/>
            <a:ext cx="8229394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3120"/>
              </a:spcAft>
            </a:pPr>
            <a:r>
              <a:rPr sz="430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150" y="1523999"/>
            <a:ext cx="8229394" cy="1781174"/>
          </a:xfrm>
          <a:prstGeom prst="roundRect">
            <a:avLst>
              <a:gd name="adj" fmla="val 17112"/>
            </a:avLst>
          </a:prstGeom>
          <a:solidFill>
            <a:srgbClr val="4FC3F7">
              <a:alpha val="10000"/>
            </a:srgbClr>
          </a:solidFill>
          <a:ln w="1651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04992" y="1847849"/>
            <a:ext cx="7581710" cy="1133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Canada's housing market varies dramatically by province and city. </a:t>
            </a:r>
            <a:r>
              <a:rPr sz="1435" b="1">
                <a:solidFill>
                  <a:srgbClr val="4FC3F7"/>
                </a:solidFill>
                <a:latin typeface="Open Sans"/>
                <a:rFonts ascii="Open Sans" hAnsi="Open Sans" eastAsia="Open Sans" cs="Open Sans"/>
              </a:rPr>
              <a:t>Location</a:t>
            </a:r>
            <a:r>
              <a:rPr sz="1435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is the single biggest factor in housing affordability, with a </a:t>
            </a:r>
            <a:r>
              <a:rPr sz="1435" b="1">
                <a:solidFill>
                  <a:srgbClr val="FF5722"/>
                </a:solidFill>
                <a:latin typeface="Montserrat"/>
                <a:rFonts ascii="Montserrat" hAnsi="Montserrat" eastAsia="Montserrat" cs="Montserrat"/>
              </a:rPr>
              <a:t>6x gap</a:t>
            </a:r>
            <a:r>
              <a:rPr sz="1435" b="0">
                <a:solidFill>
                  <a:srgbClr val="E1F5FE"/>
                </a:solidFill>
                <a:latin typeface="Open Sans"/>
                <a:rFonts ascii="Open Sans" hAnsi="Open Sans" eastAsia="Open Sans" cs="Open Sans"/>
              </a:rPr>
              <a:t> between the most and least affordable markets.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074" y="3886200"/>
            <a:ext cx="76198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943451" y="3792415"/>
            <a:ext cx="304792" cy="2256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639" y="3886200"/>
            <a:ext cx="76198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1150" y="4362450"/>
            <a:ext cx="8229394" cy="1390650"/>
          </a:xfrm>
          <a:prstGeom prst="roundRect">
            <a:avLst>
              <a:gd name="adj" fmla="val 21917"/>
            </a:avLst>
          </a:prstGeom>
          <a:solidFill>
            <a:srgbClr val="FF5722">
              <a:alpha val="15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992" y="4686300"/>
            <a:ext cx="758171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 </a:t>
            </a:r>
            <a:r>
              <a:rPr sz="1435" b="1">
                <a:solidFill>
                  <a:srgbClr val="FF5722"/>
                </a:solidFill>
                <a:latin typeface="Open Sans"/>
                <a:rFonts ascii="Open Sans" hAnsi="Open Sans" eastAsia="Open Sans" cs="Open Sans"/>
              </a:rPr>
              <a:t>British Columbia</a:t>
            </a:r>
            <a:r>
              <a:rPr sz="1435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 faces the most severe affordability crisis, with home prices </a:t>
            </a:r>
            <a:r>
              <a:rPr sz="1435" b="1">
                <a:solidFill>
                  <a:srgbClr val="FF5722"/>
                </a:solidFill>
                <a:latin typeface="Open Sans"/>
                <a:rFonts ascii="Open Sans" hAnsi="Open Sans" eastAsia="Open Sans" cs="Open Sans"/>
              </a:rPr>
              <a:t>decoupled from local incomes</a:t>
            </a:r>
            <a:r>
              <a:rPr sz="1435" b="0">
                <a:solidFill>
                  <a:srgbClr val="FFAB91"/>
                </a:solidFill>
                <a:latin typeface="Open Sans"/>
                <a:rFonts ascii="Open Sans" hAnsi="Open Sans" eastAsia="Open Sans" cs="Open Sans"/>
              </a:rPr>
              <a:t>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150" y="6210299"/>
            <a:ext cx="82293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3120"/>
              </a:spcBef>
              <a:spcAft>
                <a:spcPts val="0"/>
              </a:spcAft>
            </a:pPr>
            <a:r>
              <a:rPr sz="1076" b="0">
                <a:solidFill>
                  <a:srgbClr val="81D4FA"/>
                </a:solidFill>
                <a:latin typeface="Open Sans"/>
                <a:rFonts ascii="Open Sans" hAnsi="Open Sans" eastAsia="Open Sans" cs="Open Sans"/>
              </a:rPr>
              <a:t>Edward Agyemang | Northeastern University — Vancouver Campus |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